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112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10561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spc="200">
                <a:solidFill>
                  <a:srgbClr val="B11226"/>
                </a:solidFill>
                <a:latin typeface="Carlito"/>
              </a:rPr>
              <a:t>INTERNSHIP PROJECT REPORT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0561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1A1A1A"/>
                </a:solidFill>
                <a:latin typeface="Carlito"/>
              </a:rPr>
              <a:t>Lumenor Internship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40"/>
            <a:ext cx="10561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 i="0">
                <a:solidFill>
                  <a:srgbClr val="6B7280"/>
                </a:solidFill>
                <a:latin typeface="Carlito"/>
              </a:rPr>
              <a:t>Lumenor   ·   May to July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291840"/>
            <a:ext cx="1828800" cy="27940"/>
          </a:xfrm>
          <a:prstGeom prst="rect">
            <a:avLst/>
          </a:prstGeom>
          <a:solidFill>
            <a:srgbClr val="B112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52044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Carlito"/>
              </a:rPr>
              <a:t>Three work-streams: QA on FlowX, a product landing page, and the IFN platform.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892040"/>
            <a:ext cx="10561320" cy="15240"/>
          </a:xfrm>
          <a:prstGeom prst="rect">
            <a:avLst/>
          </a:prstGeom>
          <a:solidFill>
            <a:srgbClr val="DEDA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074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A1A1A"/>
                </a:solidFill>
                <a:latin typeface="Carlito"/>
              </a:rPr>
              <a:t>Basil Stevenson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468112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B7280"/>
                </a:solidFill>
                <a:latin typeface="Carlito"/>
              </a:rPr>
              <a:t>Roll No 24BCAHH010052   ·   BCA, Second Year   ·   ICFAI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B7280"/>
                </a:solidFill>
                <a:latin typeface="Carlito"/>
              </a:rPr>
              <a:t>Company mentor: Rama Raju sir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B7280"/>
                </a:solidFill>
                <a:latin typeface="Carlito"/>
              </a:rPr>
              <a:t>Internship duration: May to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112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66928"/>
            <a:ext cx="10561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40">
                <a:solidFill>
                  <a:srgbClr val="B11226"/>
                </a:solidFill>
                <a:latin typeface="Carlito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68680"/>
            <a:ext cx="10561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Carlito"/>
              </a:rP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627632"/>
            <a:ext cx="10561320" cy="17780"/>
          </a:xfrm>
          <a:prstGeom prst="rect">
            <a:avLst/>
          </a:prstGeom>
          <a:solidFill>
            <a:srgbClr val="DEDA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561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Carlito"/>
              </a:rPr>
              <a:t>Lumenor</a:t>
            </a:r>
            <a:r>
              <a:rPr sz="1500" b="0" i="0">
                <a:solidFill>
                  <a:srgbClr val="1A1A1A"/>
                </a:solidFill>
                <a:latin typeface="Carlito"/>
              </a:rPr>
              <a:t> builds software for solar-energy businesses: a customer suite (</a:t>
            </a:r>
            <a:r>
              <a:rPr sz="1500" b="1" i="0">
                <a:solidFill>
                  <a:srgbClr val="1A1A1A"/>
                </a:solidFill>
                <a:latin typeface="Carlito"/>
              </a:rPr>
              <a:t>solarX, flowX, fixX</a:t>
            </a:r>
            <a:r>
              <a:rPr sz="1500" b="0" i="0">
                <a:solidFill>
                  <a:srgbClr val="1A1A1A"/>
                </a:solidFill>
                <a:latin typeface="Carlito"/>
              </a:rPr>
              <a:t>), plus </a:t>
            </a:r>
            <a:r>
              <a:rPr sz="1500" b="1" i="0">
                <a:solidFill>
                  <a:srgbClr val="1A1A1A"/>
                </a:solidFill>
                <a:latin typeface="Carlito"/>
              </a:rPr>
              <a:t>coreX</a:t>
            </a:r>
            <a:r>
              <a:rPr sz="1500" b="0" i="0">
                <a:solidFill>
                  <a:srgbClr val="1A1A1A"/>
                </a:solidFill>
                <a:latin typeface="Carlito"/>
              </a:rPr>
              <a:t> for internal teams.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105613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B11226"/>
                </a:solidFill>
                <a:latin typeface="Carlito"/>
              </a:rPr>
              <a:t>•  </a:t>
            </a:r>
            <a:r>
              <a:rPr sz="1500" b="1" i="0">
                <a:solidFill>
                  <a:srgbClr val="1A1A1A"/>
                </a:solidFill>
                <a:latin typeface="Carlito"/>
              </a:rPr>
              <a:t>Team assigned:  </a:t>
            </a:r>
            <a:r>
              <a:rPr sz="1500" b="0" i="0">
                <a:solidFill>
                  <a:srgbClr val="1A1A1A"/>
                </a:solidFill>
                <a:latin typeface="Carlito"/>
              </a:rPr>
              <a:t>the FlowX team: Inventory, Sales and CRM, HRMS, Accounting, Procurement.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B11226"/>
                </a:solidFill>
                <a:latin typeface="Carlito"/>
              </a:rPr>
              <a:t>•  </a:t>
            </a:r>
            <a:r>
              <a:rPr sz="1500" b="1" i="0">
                <a:solidFill>
                  <a:srgbClr val="1A1A1A"/>
                </a:solidFill>
                <a:latin typeface="Carlito"/>
              </a:rPr>
              <a:t>Project domain:  </a:t>
            </a:r>
            <a:r>
              <a:rPr sz="1500" b="0" i="0">
                <a:solidFill>
                  <a:srgbClr val="1A1A1A"/>
                </a:solidFill>
                <a:latin typeface="Carlito"/>
              </a:rPr>
              <a:t>Quality Assurance and full-stack web development.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B11226"/>
                </a:solidFill>
                <a:latin typeface="Carlito"/>
              </a:rPr>
              <a:t>•  </a:t>
            </a:r>
            <a:r>
              <a:rPr sz="1500" b="1" i="0">
                <a:solidFill>
                  <a:srgbClr val="1A1A1A"/>
                </a:solidFill>
                <a:latin typeface="Carlito"/>
              </a:rPr>
              <a:t>Purpose of the internship:  </a:t>
            </a:r>
            <a:r>
              <a:rPr sz="1500" b="0" i="0">
                <a:solidFill>
                  <a:srgbClr val="1A1A1A"/>
                </a:solidFill>
                <a:latin typeface="Carlito"/>
              </a:rPr>
              <a:t>test real product flows, ship production frontend, and build a platform end to end.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6364224"/>
            <a:ext cx="10561320" cy="12700"/>
          </a:xfrm>
          <a:prstGeom prst="rect">
            <a:avLst/>
          </a:prstGeom>
          <a:solidFill>
            <a:srgbClr val="DEDA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rlito"/>
              </a:rPr>
              <a:t>Basil Stevenson  ·  Lumenor  ·  Internship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6437376"/>
            <a:ext cx="2276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rlito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112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66928"/>
            <a:ext cx="10561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40">
                <a:solidFill>
                  <a:srgbClr val="B11226"/>
                </a:solidFill>
                <a:latin typeface="Carlito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68680"/>
            <a:ext cx="10561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Carlito"/>
              </a:rPr>
              <a:t>Project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627632"/>
            <a:ext cx="10561320" cy="17780"/>
          </a:xfrm>
          <a:prstGeom prst="rect">
            <a:avLst/>
          </a:prstGeom>
          <a:solidFill>
            <a:srgbClr val="DEDA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103120"/>
            <a:ext cx="3310128" cy="2468880"/>
          </a:xfrm>
          <a:prstGeom prst="roundRect">
            <a:avLst>
              <a:gd name="adj" fmla="val 5000"/>
            </a:avLst>
          </a:prstGeom>
          <a:solidFill>
            <a:srgbClr val="F4F2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103120"/>
            <a:ext cx="3310128" cy="91440"/>
          </a:xfrm>
          <a:prstGeom prst="rect">
            <a:avLst/>
          </a:prstGeom>
          <a:solidFill>
            <a:srgbClr val="B112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95728"/>
            <a:ext cx="2761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B11226"/>
                </a:solidFill>
                <a:latin typeface="Carlit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779776"/>
            <a:ext cx="2761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A1A1A"/>
                </a:solidFill>
                <a:latin typeface="Carlito"/>
              </a:rPr>
              <a:t>QA on FlowX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383280"/>
            <a:ext cx="27614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280"/>
                </a:solidFill>
                <a:latin typeface="Carlito"/>
              </a:rPr>
              <a:t>Flow-test FlowX and flag flaws. Problem: ship a reliable product before release.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2103120"/>
            <a:ext cx="3310128" cy="2468880"/>
          </a:xfrm>
          <a:prstGeom prst="roundRect">
            <a:avLst>
              <a:gd name="adj" fmla="val 5000"/>
            </a:avLst>
          </a:prstGeom>
          <a:solidFill>
            <a:srgbClr val="F4F2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53128" y="2103120"/>
            <a:ext cx="3310128" cy="91440"/>
          </a:xfrm>
          <a:prstGeom prst="rect">
            <a:avLst/>
          </a:prstGeom>
          <a:solidFill>
            <a:srgbClr val="B112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2395728"/>
            <a:ext cx="2761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B11226"/>
                </a:solidFill>
                <a:latin typeface="Carlit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779776"/>
            <a:ext cx="2761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A1A1A"/>
                </a:solidFill>
                <a:latin typeface="Carlito"/>
              </a:rPr>
              <a:t>Lumenor landing 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383280"/>
            <a:ext cx="27614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280"/>
                </a:solidFill>
                <a:latin typeface="Carlito"/>
              </a:rPr>
              <a:t>Build the public marketing site. Problem: present the product to prospects.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7576" y="2103120"/>
            <a:ext cx="3310128" cy="2468880"/>
          </a:xfrm>
          <a:prstGeom prst="roundRect">
            <a:avLst>
              <a:gd name="adj" fmla="val 5000"/>
            </a:avLst>
          </a:prstGeom>
          <a:solidFill>
            <a:srgbClr val="F4F2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37576" y="2103120"/>
            <a:ext cx="3310128" cy="91440"/>
          </a:xfrm>
          <a:prstGeom prst="rect">
            <a:avLst/>
          </a:prstGeom>
          <a:solidFill>
            <a:srgbClr val="B112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2395728"/>
            <a:ext cx="2761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B11226"/>
                </a:solidFill>
                <a:latin typeface="Carlit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779776"/>
            <a:ext cx="2761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A1A1A"/>
                </a:solidFill>
                <a:latin typeface="Carlito"/>
              </a:rPr>
              <a:t>IFN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3383280"/>
            <a:ext cx="27614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280"/>
                </a:solidFill>
                <a:latin typeface="Carlito"/>
              </a:rPr>
              <a:t>Build a members-only founder platform. Problem: connect the university founder community.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4983480"/>
            <a:ext cx="82296" cy="457200"/>
          </a:xfrm>
          <a:prstGeom prst="rect">
            <a:avLst/>
          </a:prstGeom>
          <a:solidFill>
            <a:srgbClr val="B112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001768"/>
            <a:ext cx="10561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rlito"/>
              </a:rPr>
              <a:t>Objective: </a:t>
            </a:r>
            <a:r>
              <a:rPr sz="1400" b="0" i="0">
                <a:solidFill>
                  <a:srgbClr val="1A1A1A"/>
                </a:solidFill>
                <a:latin typeface="Carlito"/>
              </a:rPr>
              <a:t>contribute across QA, frontend, and full-stack product within one internship.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6364224"/>
            <a:ext cx="10561320" cy="12700"/>
          </a:xfrm>
          <a:prstGeom prst="rect">
            <a:avLst/>
          </a:prstGeom>
          <a:solidFill>
            <a:srgbClr val="DEDA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rlito"/>
              </a:rPr>
              <a:t>Basil Stevenson  ·  Lumenor  ·  Internship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6437376"/>
            <a:ext cx="2276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rlito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112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66928"/>
            <a:ext cx="10561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40">
                <a:solidFill>
                  <a:srgbClr val="B11226"/>
                </a:solidFill>
                <a:latin typeface="Carlito"/>
              </a:rPr>
              <a:t>SECTION 5  ·  WORK 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68680"/>
            <a:ext cx="10561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Carlito"/>
              </a:rPr>
              <a:t>QA on FlowX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627632"/>
            <a:ext cx="10561320" cy="17780"/>
          </a:xfrm>
          <a:prstGeom prst="rect">
            <a:avLst/>
          </a:prstGeom>
          <a:solidFill>
            <a:srgbClr val="DEDA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938528"/>
            <a:ext cx="2505456" cy="114300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938528"/>
            <a:ext cx="82296" cy="1143000"/>
          </a:xfrm>
          <a:prstGeom prst="rect">
            <a:avLst/>
          </a:prstGeom>
          <a:solidFill>
            <a:srgbClr val="B112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2084832"/>
            <a:ext cx="21396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A1A1A"/>
                </a:solidFill>
                <a:latin typeface="Carlito"/>
              </a:rPr>
              <a:t>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569464"/>
            <a:ext cx="2139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Carlito"/>
              </a:rPr>
              <a:t>tests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8728" y="1938528"/>
            <a:ext cx="2505456" cy="114300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38728" y="1938528"/>
            <a:ext cx="82296" cy="1143000"/>
          </a:xfrm>
          <a:prstGeom prst="rect">
            <a:avLst/>
          </a:prstGeom>
          <a:solidFill>
            <a:srgbClr val="B112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2084832"/>
            <a:ext cx="21396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A1A1A"/>
                </a:solidFill>
                <a:latin typeface="Carlito"/>
              </a:rPr>
              <a:t>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2569464"/>
            <a:ext cx="2139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Carlito"/>
              </a:rPr>
              <a:t>bugs found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938528"/>
            <a:ext cx="2505456" cy="114300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8776" y="1938528"/>
            <a:ext cx="82296" cy="1143000"/>
          </a:xfrm>
          <a:prstGeom prst="rect">
            <a:avLst/>
          </a:prstGeom>
          <a:solidFill>
            <a:srgbClr val="B112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2084832"/>
            <a:ext cx="21396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A1A1A"/>
                </a:solidFill>
                <a:latin typeface="Carlito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2569464"/>
            <a:ext cx="2139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Carlito"/>
              </a:rPr>
              <a:t>modules covered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78824" y="1938528"/>
            <a:ext cx="2505456" cy="114300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78824" y="1938528"/>
            <a:ext cx="82296" cy="1143000"/>
          </a:xfrm>
          <a:prstGeom prst="rect">
            <a:avLst/>
          </a:prstGeom>
          <a:solidFill>
            <a:srgbClr val="B112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4856" y="2084832"/>
            <a:ext cx="21396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A1A1A"/>
                </a:solidFill>
                <a:latin typeface="Carlito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4" y="2569464"/>
            <a:ext cx="2139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Carlito"/>
              </a:rPr>
              <a:t>security criticals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200400"/>
            <a:ext cx="10561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A1A1A"/>
                </a:solidFill>
                <a:latin typeface="Carlito"/>
              </a:rPr>
              <a:t>Brief:  </a:t>
            </a:r>
            <a:r>
              <a:rPr sz="1250" b="0" i="0">
                <a:solidFill>
                  <a:srgbClr val="1A1A1A"/>
                </a:solidFill>
                <a:latin typeface="Carlito"/>
              </a:rPr>
              <a:t>test FlowX like a user, optimize the happy paths, flag flaws. Assigned to FixX first; moved to FlowX when FixX was not ready. I also offered security testing, from a penetration-testing background.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950208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11226"/>
                </a:solidFill>
                <a:latin typeface="Carlito"/>
              </a:rPr>
              <a:t>Selected findings (mine)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297680"/>
            <a:ext cx="5989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11226"/>
                </a:solidFill>
                <a:latin typeface="Carlito"/>
              </a:rPr>
              <a:t>•  </a:t>
            </a:r>
            <a:r>
              <a:rPr sz="1250" b="1" i="0">
                <a:solidFill>
                  <a:srgbClr val="1A1A1A"/>
                </a:solidFill>
                <a:latin typeface="Carlito"/>
              </a:rPr>
              <a:t>Account takeover:  </a:t>
            </a:r>
            <a:r>
              <a:rPr sz="1250" b="0" i="0">
                <a:solidFill>
                  <a:srgbClr val="1A1A1A"/>
                </a:solidFill>
                <a:latin typeface="Carlito"/>
              </a:rPr>
              <a:t>password-reset poisoning via a client-controlled baseUrl leaks the reset token to an attacker domain (Critical).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11226"/>
                </a:solidFill>
                <a:latin typeface="Carlito"/>
              </a:rPr>
              <a:t>•  </a:t>
            </a:r>
            <a:r>
              <a:rPr sz="1250" b="1" i="0">
                <a:solidFill>
                  <a:srgbClr val="1A1A1A"/>
                </a:solidFill>
                <a:latin typeface="Carlito"/>
              </a:rPr>
              <a:t>Info disclosure:  </a:t>
            </a:r>
            <a:r>
              <a:rPr sz="1250" b="0" i="0">
                <a:solidFill>
                  <a:srgbClr val="1A1A1A"/>
                </a:solidFill>
                <a:latin typeface="Carlito"/>
              </a:rPr>
              <a:t>a duplicate warehouse code surfaces the raw ORM error, leaking internal file paths and schema.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11226"/>
                </a:solidFill>
                <a:latin typeface="Carlito"/>
              </a:rPr>
              <a:t>•  </a:t>
            </a:r>
            <a:r>
              <a:rPr sz="1250" b="1" i="0">
                <a:solidFill>
                  <a:srgbClr val="1A1A1A"/>
                </a:solidFill>
                <a:latin typeface="Carlito"/>
              </a:rPr>
              <a:t>Data integrity and crashes:  </a:t>
            </a:r>
            <a:r>
              <a:rPr sz="1250" b="0" i="0">
                <a:solidFill>
                  <a:srgbClr val="1A1A1A"/>
                </a:solidFill>
                <a:latin typeface="Carlito"/>
              </a:rPr>
              <a:t>address corrupted on every save, a broken CSV round-trip, a search that crashes on an undefined field.</a:t>
            </a:r>
          </a:p>
        </p:txBody>
      </p:sp>
      <p:pic>
        <p:nvPicPr>
          <p:cNvPr id="26" name="Picture 25" descr="bug-tra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3950208"/>
            <a:ext cx="4160520" cy="1847088"/>
          </a:xfrm>
          <a:prstGeom prst="rect">
            <a:avLst/>
          </a:prstGeom>
          <a:ln w="12700">
            <a:solidFill>
              <a:srgbClr val="DEDAD2"/>
            </a:solidFill>
          </a:ln>
        </p:spPr>
      </p:pic>
      <p:sp>
        <p:nvSpPr>
          <p:cNvPr id="27" name="TextBox 26"/>
          <p:cNvSpPr txBox="1"/>
          <p:nvPr/>
        </p:nvSpPr>
        <p:spPr>
          <a:xfrm>
            <a:off x="868680" y="5943600"/>
            <a:ext cx="10561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A1A1A"/>
                </a:solidFill>
                <a:latin typeface="Carlito"/>
              </a:rPr>
              <a:t>Tooling:  </a:t>
            </a:r>
            <a:r>
              <a:rPr sz="1150" b="0" i="0">
                <a:solidFill>
                  <a:srgbClr val="6B7280"/>
                </a:solidFill>
                <a:latin typeface="Carlito"/>
              </a:rPr>
              <a:t>Playwright automated flows (shared HTML reports); each bug logged with module, repro steps, expected versus actual, priority, status.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6364224"/>
            <a:ext cx="10561320" cy="12700"/>
          </a:xfrm>
          <a:prstGeom prst="rect">
            <a:avLst/>
          </a:prstGeom>
          <a:solidFill>
            <a:srgbClr val="DEDA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rlito"/>
              </a:rPr>
              <a:t>Basil Stevenson  ·  Lumenor  ·  Internship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6437376"/>
            <a:ext cx="2276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rlito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112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66928"/>
            <a:ext cx="10561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40">
                <a:solidFill>
                  <a:srgbClr val="B11226"/>
                </a:solidFill>
                <a:latin typeface="Carlito"/>
              </a:rPr>
              <a:t>SECTION 5  ·  WORK 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68680"/>
            <a:ext cx="10561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Carlito"/>
              </a:rPr>
              <a:t>Lumenor landing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627632"/>
            <a:ext cx="10561320" cy="17780"/>
          </a:xfrm>
          <a:prstGeom prst="rect">
            <a:avLst/>
          </a:prstGeom>
          <a:solidFill>
            <a:srgbClr val="DEDA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50292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B11226"/>
                </a:solidFill>
                <a:latin typeface="Carlito"/>
              </a:rPr>
              <a:t>•  </a:t>
            </a:r>
            <a:r>
              <a:rPr sz="1500" b="0" i="0">
                <a:solidFill>
                  <a:srgbClr val="1A1A1A"/>
                </a:solidFill>
                <a:latin typeface="Carlito"/>
              </a:rPr>
              <a:t>Built and shipped the public marketing site for Lumenor.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B11226"/>
                </a:solidFill>
                <a:latin typeface="Carlito"/>
              </a:rPr>
              <a:t>•  </a:t>
            </a:r>
            <a:r>
              <a:rPr sz="1500" b="0" i="0">
                <a:solidFill>
                  <a:srgbClr val="1A1A1A"/>
                </a:solidFill>
                <a:latin typeface="Carlito"/>
              </a:rPr>
              <a:t>Headline: “Run your entire solar business in one place.”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B11226"/>
                </a:solidFill>
                <a:latin typeface="Carlito"/>
              </a:rPr>
              <a:t>•  </a:t>
            </a:r>
            <a:r>
              <a:rPr sz="1500" b="0" i="0">
                <a:solidFill>
                  <a:srgbClr val="1A1A1A"/>
                </a:solidFill>
                <a:latin typeface="Carlito"/>
              </a:rPr>
              <a:t>Responsive layout that presents the product to prospects.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605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rlito"/>
              </a:rPr>
              <a:t>Live:  </a:t>
            </a:r>
            <a:r>
              <a:rPr sz="1400" b="1" i="0">
                <a:solidFill>
                  <a:srgbClr val="B11226"/>
                </a:solidFill>
                <a:latin typeface="Carlito"/>
              </a:rPr>
              <a:t>basiltest.github.io/lumenor</a:t>
            </a:r>
          </a:p>
        </p:txBody>
      </p:sp>
      <p:pic>
        <p:nvPicPr>
          <p:cNvPr id="9" name="Picture 8" descr="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011680"/>
            <a:ext cx="5212080" cy="3611880"/>
          </a:xfrm>
          <a:prstGeom prst="rect">
            <a:avLst/>
          </a:prstGeom>
          <a:ln w="12700">
            <a:solidFill>
              <a:srgbClr val="DEDAD2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868680" y="6364224"/>
            <a:ext cx="10561320" cy="12700"/>
          </a:xfrm>
          <a:prstGeom prst="rect">
            <a:avLst/>
          </a:prstGeom>
          <a:solidFill>
            <a:srgbClr val="DEDA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rlito"/>
              </a:rPr>
              <a:t>Basil Stevenson  ·  Lumenor  ·  Internship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6437376"/>
            <a:ext cx="2276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rlito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112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66928"/>
            <a:ext cx="10561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40">
                <a:solidFill>
                  <a:srgbClr val="B11226"/>
                </a:solidFill>
                <a:latin typeface="Carlito"/>
              </a:rPr>
              <a:t>SECTION 5  ·  WORK 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68680"/>
            <a:ext cx="10561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Carlito"/>
              </a:rPr>
              <a:t>IFN: ICFAI Founders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627632"/>
            <a:ext cx="10561320" cy="17780"/>
          </a:xfrm>
          <a:prstGeom prst="rect">
            <a:avLst/>
          </a:prstGeom>
          <a:solidFill>
            <a:srgbClr val="DEDA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561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rlito"/>
              </a:rPr>
              <a:t>A members-only platform for the university's founder community, built and iterated largely solo.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286000"/>
            <a:ext cx="720547" cy="420624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12700">
            <a:solidFill>
              <a:srgbClr val="DEDA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63724"/>
            <a:ext cx="7205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rlito"/>
              </a:rPr>
              <a:t>Feed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64792" y="2286000"/>
            <a:ext cx="1982419" cy="420624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12700">
            <a:solidFill>
              <a:srgbClr val="DEDA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64792" y="2363724"/>
            <a:ext cx="19824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rlito"/>
              </a:rPr>
              <a:t>Idea Pipeline G1-G6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63924" y="2286000"/>
            <a:ext cx="1309420" cy="420624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12700">
            <a:solidFill>
              <a:srgbClr val="DEDA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3924" y="2363724"/>
            <a:ext cx="13094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rlito"/>
              </a:rPr>
              <a:t>Problem Hub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68111" y="2286000"/>
            <a:ext cx="1730044" cy="420624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12700">
            <a:solidFill>
              <a:srgbClr val="DEDA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68111" y="2363724"/>
            <a:ext cx="17300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rlito"/>
              </a:rPr>
              <a:t>Team Acquisition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39" y="2286000"/>
            <a:ext cx="1057046" cy="420624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12700">
            <a:solidFill>
              <a:srgbClr val="DEDA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39" y="2363724"/>
            <a:ext cx="10570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rlito"/>
              </a:rPr>
              <a:t>Calendar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50223" y="2286000"/>
            <a:ext cx="1141171" cy="420624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12700">
            <a:solidFill>
              <a:srgbClr val="DEDA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50223" y="2363724"/>
            <a:ext cx="11411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rlito"/>
              </a:rPr>
              <a:t>Directory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2834640"/>
            <a:ext cx="1477670" cy="420624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12700">
            <a:solidFill>
              <a:srgbClr val="DEDA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912364"/>
            <a:ext cx="14776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rlito"/>
              </a:rPr>
              <a:t>Notifications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46604" y="2834640"/>
            <a:ext cx="1225295" cy="420624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12700">
            <a:solidFill>
              <a:srgbClr val="DEDA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46604" y="2912364"/>
            <a:ext cx="1225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rlito"/>
              </a:rPr>
              <a:t>Moderation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63924" y="2834640"/>
            <a:ext cx="804671" cy="420624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12700">
            <a:solidFill>
              <a:srgbClr val="DEDA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63924" y="2912364"/>
            <a:ext cx="8046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rlito"/>
              </a:rPr>
              <a:t>Admin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46904" y="2834640"/>
            <a:ext cx="1561795" cy="420624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12700">
            <a:solidFill>
              <a:srgbClr val="DEDA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46904" y="2912364"/>
            <a:ext cx="15617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rlito"/>
              </a:rPr>
              <a:t>Auth and Roles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3310128"/>
            <a:ext cx="10561320" cy="777240"/>
          </a:xfrm>
          <a:prstGeom prst="roundRect">
            <a:avLst>
              <a:gd name="adj" fmla="val 5000"/>
            </a:avLst>
          </a:prstGeom>
          <a:solidFill>
            <a:srgbClr val="F4F2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" y="3310128"/>
            <a:ext cx="82296" cy="777240"/>
          </a:xfrm>
          <a:prstGeom prst="rect">
            <a:avLst/>
          </a:prstGeom>
          <a:solidFill>
            <a:srgbClr val="B112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3419856"/>
            <a:ext cx="10012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A1A1A"/>
                </a:solidFill>
                <a:latin typeface="Carlito"/>
              </a:rPr>
              <a:t>Stack:  </a:t>
            </a:r>
            <a:r>
              <a:rPr sz="1350" b="0" i="0">
                <a:solidFill>
                  <a:srgbClr val="1A1A1A"/>
                </a:solidFill>
                <a:latin typeface="Carlito"/>
              </a:rPr>
              <a:t>Vite single-page app on Vercel, backed by Supabase (Auth + Postgres + Row-Level Security), no custom backend. Now hardening for production and moving to self-hosted infrastructure.</a:t>
            </a:r>
          </a:p>
        </p:txBody>
      </p:sp>
      <p:pic>
        <p:nvPicPr>
          <p:cNvPr id="31" name="Picture 30" descr="ifn-f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279392"/>
            <a:ext cx="5138928" cy="1975104"/>
          </a:xfrm>
          <a:prstGeom prst="rect">
            <a:avLst/>
          </a:prstGeom>
          <a:ln w="12700">
            <a:solidFill>
              <a:srgbClr val="DEDAD2"/>
            </a:solidFill>
          </a:ln>
        </p:spPr>
      </p:pic>
      <p:pic>
        <p:nvPicPr>
          <p:cNvPr id="32" name="Picture 31" descr="ifn-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4279392"/>
            <a:ext cx="5138928" cy="1975104"/>
          </a:xfrm>
          <a:prstGeom prst="rect">
            <a:avLst/>
          </a:prstGeom>
          <a:ln w="12700">
            <a:solidFill>
              <a:srgbClr val="DEDAD2"/>
            </a:solidFill>
          </a:ln>
        </p:spPr>
      </p:pic>
      <p:sp>
        <p:nvSpPr>
          <p:cNvPr id="33" name="Rectangle 32"/>
          <p:cNvSpPr/>
          <p:nvPr/>
        </p:nvSpPr>
        <p:spPr>
          <a:xfrm>
            <a:off x="868680" y="6364224"/>
            <a:ext cx="10561320" cy="12700"/>
          </a:xfrm>
          <a:prstGeom prst="rect">
            <a:avLst/>
          </a:prstGeom>
          <a:solidFill>
            <a:srgbClr val="DEDA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rlito"/>
              </a:rPr>
              <a:t>Basil Stevenson  ·  Lumenor  ·  Internship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6437376"/>
            <a:ext cx="2276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rlito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112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66928"/>
            <a:ext cx="10561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40">
                <a:solidFill>
                  <a:srgbClr val="B11226"/>
                </a:solidFill>
                <a:latin typeface="Carlito"/>
              </a:rP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68680"/>
            <a:ext cx="10561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Carlito"/>
              </a:rPr>
              <a:t>Methodology and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627632"/>
            <a:ext cx="10561320" cy="17780"/>
          </a:xfrm>
          <a:prstGeom prst="rect">
            <a:avLst/>
          </a:prstGeom>
          <a:solidFill>
            <a:srgbClr val="DEDA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561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B11226"/>
                </a:solidFill>
                <a:latin typeface="Carlito"/>
              </a:rPr>
              <a:t>•  </a:t>
            </a:r>
            <a:r>
              <a:rPr sz="1500" b="1" i="0">
                <a:solidFill>
                  <a:srgbClr val="1A1A1A"/>
                </a:solidFill>
                <a:latin typeface="Carlito"/>
              </a:rPr>
              <a:t>Process:  </a:t>
            </a:r>
            <a:r>
              <a:rPr sz="1500" b="0" i="0">
                <a:solidFill>
                  <a:srgbClr val="1A1A1A"/>
                </a:solidFill>
                <a:latin typeface="Carlito"/>
              </a:rPr>
              <a:t>Agile and iterative work, with weekly progress and review inside the team.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B11226"/>
                </a:solidFill>
                <a:latin typeface="Carlito"/>
              </a:rPr>
              <a:t>•  </a:t>
            </a:r>
            <a:r>
              <a:rPr sz="1500" b="1" i="0">
                <a:solidFill>
                  <a:srgbClr val="1A1A1A"/>
                </a:solidFill>
                <a:latin typeface="Carlito"/>
              </a:rPr>
              <a:t>QA approach:  </a:t>
            </a:r>
            <a:r>
              <a:rPr sz="1500" b="0" i="0">
                <a:solidFill>
                  <a:srgbClr val="1A1A1A"/>
                </a:solidFill>
                <a:latin typeface="Carlito"/>
              </a:rPr>
              <a:t>exploratory testing plus Playwright automation; every bug logged with module, repro steps, expected versus actual, priority, and status.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B11226"/>
                </a:solidFill>
                <a:latin typeface="Carlito"/>
              </a:rPr>
              <a:t>•  </a:t>
            </a:r>
            <a:r>
              <a:rPr sz="1500" b="1" i="0">
                <a:solidFill>
                  <a:srgbClr val="1A1A1A"/>
                </a:solidFill>
                <a:latin typeface="Carlito"/>
              </a:rPr>
              <a:t>Build approach:  </a:t>
            </a:r>
            <a:r>
              <a:rPr sz="1500" b="0" i="0">
                <a:solidFill>
                  <a:srgbClr val="1A1A1A"/>
                </a:solidFill>
                <a:latin typeface="Carlito"/>
              </a:rPr>
              <a:t>full-stack delivery: auth, Row-Level Security, data modeling, and a single-page app shipped to production.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B11226"/>
                </a:solidFill>
                <a:latin typeface="Carlito"/>
              </a:rPr>
              <a:t>•  </a:t>
            </a:r>
            <a:r>
              <a:rPr sz="1500" b="1" i="0">
                <a:solidFill>
                  <a:srgbClr val="1A1A1A"/>
                </a:solidFill>
                <a:latin typeface="Carlito"/>
              </a:rPr>
              <a:t>Working practice:  </a:t>
            </a:r>
            <a:r>
              <a:rPr sz="1500" b="0" i="0">
                <a:solidFill>
                  <a:srgbClr val="1A1A1A"/>
                </a:solidFill>
                <a:latin typeface="Carlito"/>
              </a:rPr>
              <a:t>dogfooding the products inside a live SaaS team.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6364224"/>
            <a:ext cx="10561320" cy="12700"/>
          </a:xfrm>
          <a:prstGeom prst="rect">
            <a:avLst/>
          </a:prstGeom>
          <a:solidFill>
            <a:srgbClr val="DEDA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rlito"/>
              </a:rPr>
              <a:t>Basil Stevenson  ·  Lumenor  ·  Internship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6437376"/>
            <a:ext cx="2276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rlito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112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66928"/>
            <a:ext cx="10561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40">
                <a:solidFill>
                  <a:srgbClr val="B11226"/>
                </a:solidFill>
                <a:latin typeface="Carlito"/>
              </a:rPr>
              <a:t>SECTION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68680"/>
            <a:ext cx="10561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Carlito"/>
              </a:rPr>
              <a:t>Tools and technologies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627632"/>
            <a:ext cx="10561320" cy="17780"/>
          </a:xfrm>
          <a:prstGeom prst="rect">
            <a:avLst/>
          </a:prstGeom>
          <a:solidFill>
            <a:srgbClr val="DEDA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561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6B7280"/>
                </a:solidFill>
                <a:latin typeface="Carlito"/>
              </a:rPr>
              <a:t>Languages, frameworks, data, and tooling used across the three work-streams.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606040"/>
            <a:ext cx="888796" cy="420624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12700">
            <a:solidFill>
              <a:srgbClr val="DEDA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83764"/>
            <a:ext cx="8887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rlito"/>
              </a:rPr>
              <a:t>Python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38528" y="2606040"/>
            <a:ext cx="1225295" cy="420624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12700">
            <a:solidFill>
              <a:srgbClr val="DEDA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38528" y="2683764"/>
            <a:ext cx="1225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rlito"/>
              </a:rPr>
              <a:t>JavaScript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2606040"/>
            <a:ext cx="804671" cy="420624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12700">
            <a:solidFill>
              <a:srgbClr val="DEDA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2683764"/>
            <a:ext cx="8046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rlito"/>
              </a:rPr>
              <a:t>React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8828" y="2606040"/>
            <a:ext cx="720547" cy="420624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12700">
            <a:solidFill>
              <a:srgbClr val="DEDA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8828" y="2683764"/>
            <a:ext cx="7205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rlito"/>
              </a:rPr>
              <a:t>Vite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34940" y="2606040"/>
            <a:ext cx="1225295" cy="420624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12700">
            <a:solidFill>
              <a:srgbClr val="DEDA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4940" y="2683764"/>
            <a:ext cx="1225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rlito"/>
              </a:rPr>
              <a:t>Playwright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52260" y="2606040"/>
            <a:ext cx="1057046" cy="420624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12700">
            <a:solidFill>
              <a:srgbClr val="DEDA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2260" y="2683764"/>
            <a:ext cx="10570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rlito"/>
              </a:rPr>
              <a:t>Supabase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95844" y="2606040"/>
            <a:ext cx="1057046" cy="420624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12700">
            <a:solidFill>
              <a:srgbClr val="DEDA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5844" y="2683764"/>
            <a:ext cx="10570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rlito"/>
              </a:rPr>
              <a:t>Postgres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39428" y="2606040"/>
            <a:ext cx="1898294" cy="420624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12700">
            <a:solidFill>
              <a:srgbClr val="DEDA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9428" y="2683764"/>
            <a:ext cx="189829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rlito"/>
              </a:rPr>
              <a:t>Row-Level Security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3154680"/>
            <a:ext cx="888796" cy="420624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12700">
            <a:solidFill>
              <a:srgbClr val="DEDA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232404"/>
            <a:ext cx="8887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rlito"/>
              </a:rPr>
              <a:t>Vercel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38528" y="3154680"/>
            <a:ext cx="888796" cy="420624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12700">
            <a:solidFill>
              <a:srgbClr val="DEDA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38528" y="3232404"/>
            <a:ext cx="8887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rlito"/>
              </a:rPr>
              <a:t>Docker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08376" y="3154680"/>
            <a:ext cx="1561795" cy="420624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12700">
            <a:solidFill>
              <a:srgbClr val="DEDA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08376" y="3232404"/>
            <a:ext cx="15617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rlito"/>
              </a:rPr>
              <a:t>Git and GitHub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73168" y="3154680"/>
            <a:ext cx="720547" cy="420624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12700">
            <a:solidFill>
              <a:srgbClr val="DEDA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73168" y="3232404"/>
            <a:ext cx="7205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rlito"/>
              </a:rPr>
              <a:t>LLMs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0" y="3154680"/>
            <a:ext cx="1730044" cy="420624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12700">
            <a:solidFill>
              <a:srgbClr val="DEDA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3232404"/>
            <a:ext cx="17300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rlito"/>
              </a:rPr>
              <a:t>Vector databases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6364224"/>
            <a:ext cx="10561320" cy="12700"/>
          </a:xfrm>
          <a:prstGeom prst="rect">
            <a:avLst/>
          </a:prstGeom>
          <a:solidFill>
            <a:srgbClr val="DEDA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rlito"/>
              </a:rPr>
              <a:t>Basil Stevenson  ·  Lumenor  ·  Internship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6437376"/>
            <a:ext cx="2276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rlito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112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66928"/>
            <a:ext cx="10561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40">
                <a:solidFill>
                  <a:srgbClr val="B11226"/>
                </a:solidFill>
                <a:latin typeface="Carlito"/>
              </a:rPr>
              <a:t>SECTION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68680"/>
            <a:ext cx="10561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Carlito"/>
              </a:rPr>
              <a:t>Results and progress 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627632"/>
            <a:ext cx="10561320" cy="17780"/>
          </a:xfrm>
          <a:prstGeom prst="rect">
            <a:avLst/>
          </a:prstGeom>
          <a:solidFill>
            <a:srgbClr val="DEDA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938528"/>
            <a:ext cx="2505456" cy="118872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938528"/>
            <a:ext cx="82296" cy="1188720"/>
          </a:xfrm>
          <a:prstGeom prst="rect">
            <a:avLst/>
          </a:prstGeom>
          <a:solidFill>
            <a:srgbClr val="B112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2084832"/>
            <a:ext cx="21396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A1A1A"/>
                </a:solidFill>
                <a:latin typeface="Carlito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15184"/>
            <a:ext cx="2139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Carlito"/>
              </a:rPr>
              <a:t>bugs logged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8728" y="1938528"/>
            <a:ext cx="2505456" cy="118872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38728" y="1938528"/>
            <a:ext cx="82296" cy="1188720"/>
          </a:xfrm>
          <a:prstGeom prst="rect">
            <a:avLst/>
          </a:prstGeom>
          <a:solidFill>
            <a:srgbClr val="B112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2084832"/>
            <a:ext cx="21396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A1A1A"/>
                </a:solidFill>
                <a:latin typeface="Carlit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2615184"/>
            <a:ext cx="2139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Carlito"/>
              </a:rPr>
              <a:t>security criticals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938528"/>
            <a:ext cx="2505456" cy="118872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8776" y="1938528"/>
            <a:ext cx="82296" cy="1188720"/>
          </a:xfrm>
          <a:prstGeom prst="rect">
            <a:avLst/>
          </a:prstGeom>
          <a:solidFill>
            <a:srgbClr val="B112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2084832"/>
            <a:ext cx="21396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A1A1A"/>
                </a:solidFill>
                <a:latin typeface="Carlit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2615184"/>
            <a:ext cx="2139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Carlito"/>
              </a:rPr>
              <a:t>products delivered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78824" y="1938528"/>
            <a:ext cx="2505456" cy="118872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78824" y="1938528"/>
            <a:ext cx="82296" cy="1188720"/>
          </a:xfrm>
          <a:prstGeom prst="rect">
            <a:avLst/>
          </a:prstGeom>
          <a:solidFill>
            <a:srgbClr val="B112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4856" y="2084832"/>
            <a:ext cx="21396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A1A1A"/>
                </a:solidFill>
                <a:latin typeface="Carlito"/>
              </a:rPr>
              <a:t>~55%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4" y="2615184"/>
            <a:ext cx="2139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Carlito"/>
              </a:rPr>
              <a:t>internship progress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520440"/>
            <a:ext cx="105613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 i="0">
                <a:solidFill>
                  <a:srgbClr val="B11226"/>
                </a:solidFill>
                <a:latin typeface="Carlito"/>
              </a:rPr>
              <a:t>•  </a:t>
            </a:r>
            <a:r>
              <a:rPr sz="1450" b="1" i="0">
                <a:solidFill>
                  <a:srgbClr val="1A1A1A"/>
                </a:solidFill>
                <a:latin typeface="Carlito"/>
              </a:rPr>
              <a:t>QA:  </a:t>
            </a:r>
            <a:r>
              <a:rPr sz="1450" b="0" i="0">
                <a:solidFill>
                  <a:srgbClr val="1A1A1A"/>
                </a:solidFill>
                <a:latin typeface="Carlito"/>
              </a:rPr>
              <a:t>67 tests run across 7 FlowX modules; 19 bugs logged, including 2 security criticals reported with repro steps.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 i="0">
                <a:solidFill>
                  <a:srgbClr val="B11226"/>
                </a:solidFill>
                <a:latin typeface="Carlito"/>
              </a:rPr>
              <a:t>•  </a:t>
            </a:r>
            <a:r>
              <a:rPr sz="1450" b="1" i="0">
                <a:solidFill>
                  <a:srgbClr val="1A1A1A"/>
                </a:solidFill>
                <a:latin typeface="Carlito"/>
              </a:rPr>
              <a:t>Landing page:  </a:t>
            </a:r>
            <a:r>
              <a:rPr sz="1450" b="0" i="0">
                <a:solidFill>
                  <a:srgbClr val="1A1A1A"/>
                </a:solidFill>
                <a:latin typeface="Carlito"/>
              </a:rPr>
              <a:t>shipped live to prospects.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 i="0">
                <a:solidFill>
                  <a:srgbClr val="B11226"/>
                </a:solidFill>
                <a:latin typeface="Carlito"/>
              </a:rPr>
              <a:t>•  </a:t>
            </a:r>
            <a:r>
              <a:rPr sz="1450" b="1" i="0">
                <a:solidFill>
                  <a:srgbClr val="1A1A1A"/>
                </a:solidFill>
                <a:latin typeface="Carlito"/>
              </a:rPr>
              <a:t>IFN platform:  </a:t>
            </a:r>
            <a:r>
              <a:rPr sz="1450" b="0" i="0">
                <a:solidFill>
                  <a:srgbClr val="1A1A1A"/>
                </a:solidFill>
                <a:latin typeface="Carlito"/>
              </a:rPr>
              <a:t>built end to end and iterating; auth, RLS, feed, idea pipeline, and admin in place.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5486400"/>
            <a:ext cx="82296" cy="457200"/>
          </a:xfrm>
          <a:prstGeom prst="rect">
            <a:avLst/>
          </a:prstGeom>
          <a:solidFill>
            <a:srgbClr val="B112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504688"/>
            <a:ext cx="10561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rlito"/>
              </a:rPr>
              <a:t>Project completion status: </a:t>
            </a:r>
            <a:r>
              <a:rPr sz="1400" b="0" i="0">
                <a:solidFill>
                  <a:srgbClr val="1A1A1A"/>
                </a:solidFill>
                <a:latin typeface="Carlito"/>
              </a:rPr>
              <a:t>about 55 percent, at the mid-internship point.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6364224"/>
            <a:ext cx="10561320" cy="12700"/>
          </a:xfrm>
          <a:prstGeom prst="rect">
            <a:avLst/>
          </a:prstGeom>
          <a:solidFill>
            <a:srgbClr val="DEDA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rlito"/>
              </a:rPr>
              <a:t>Basil Stevenson  ·  Lumenor  ·  Internship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6437376"/>
            <a:ext cx="2276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rlito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112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66928"/>
            <a:ext cx="10561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40">
                <a:solidFill>
                  <a:srgbClr val="B11226"/>
                </a:solidFill>
                <a:latin typeface="Carlito"/>
              </a:rPr>
              <a:t>SECTION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68680"/>
            <a:ext cx="10561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Carlito"/>
              </a:rPr>
              <a:t>Challenges and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627632"/>
            <a:ext cx="10561320" cy="17780"/>
          </a:xfrm>
          <a:prstGeom prst="rect">
            <a:avLst/>
          </a:prstGeom>
          <a:solidFill>
            <a:srgbClr val="DEDA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5613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B11226"/>
                </a:solidFill>
                <a:latin typeface="Carlito"/>
              </a:rPr>
              <a:t>•  </a:t>
            </a:r>
            <a:r>
              <a:rPr sz="1500" b="1" i="0">
                <a:solidFill>
                  <a:srgbClr val="1A1A1A"/>
                </a:solidFill>
                <a:latin typeface="Carlito"/>
              </a:rPr>
              <a:t>FixX not ready:  </a:t>
            </a:r>
            <a:r>
              <a:rPr sz="1500" b="0" i="0">
                <a:solidFill>
                  <a:srgbClr val="1A1A1A"/>
                </a:solidFill>
                <a:latin typeface="Carlito"/>
              </a:rPr>
              <a:t>reassigned to FlowX and ramped on its modules quickly to keep testing on schedule.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B11226"/>
                </a:solidFill>
                <a:latin typeface="Carlito"/>
              </a:rPr>
              <a:t>•  </a:t>
            </a:r>
            <a:r>
              <a:rPr sz="1500" b="1" i="0">
                <a:solidFill>
                  <a:srgbClr val="1A1A1A"/>
                </a:solidFill>
                <a:latin typeface="Carlito"/>
              </a:rPr>
              <a:t>Surfacing security flaws:  </a:t>
            </a:r>
            <a:r>
              <a:rPr sz="1500" b="0" i="0">
                <a:solidFill>
                  <a:srgbClr val="1A1A1A"/>
                </a:solidFill>
                <a:latin typeface="Carlito"/>
              </a:rPr>
              <a:t>reported auth and error-handling bugs responsibly, each with clear repro steps and priority.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B11226"/>
                </a:solidFill>
                <a:latin typeface="Carlito"/>
              </a:rPr>
              <a:t>•  </a:t>
            </a:r>
            <a:r>
              <a:rPr sz="1500" b="1" i="0">
                <a:solidFill>
                  <a:srgbClr val="1A1A1A"/>
                </a:solidFill>
                <a:latin typeface="Carlito"/>
              </a:rPr>
              <a:t>Solo scope on IFN:  </a:t>
            </a:r>
            <a:r>
              <a:rPr sz="1500" b="0" i="0">
                <a:solidFill>
                  <a:srgbClr val="1A1A1A"/>
                </a:solidFill>
                <a:latin typeface="Carlito"/>
              </a:rPr>
              <a:t>sliced the build into vertical features and shipped iteratively instead of all at once.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B11226"/>
                </a:solidFill>
                <a:latin typeface="Carlito"/>
              </a:rPr>
              <a:t>•  </a:t>
            </a:r>
            <a:r>
              <a:rPr sz="1500" b="1" i="0">
                <a:solidFill>
                  <a:srgbClr val="1A1A1A"/>
                </a:solidFill>
                <a:latin typeface="Carlito"/>
              </a:rPr>
              <a:t>Self-host migration:  </a:t>
            </a:r>
            <a:r>
              <a:rPr sz="1500" b="0" i="0">
                <a:solidFill>
                  <a:srgbClr val="1A1A1A"/>
                </a:solidFill>
                <a:latin typeface="Carlito"/>
              </a:rPr>
              <a:t>planned a phased move off Supabase Cloud and Vercel onto the office server, with captcha to follow.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6364224"/>
            <a:ext cx="10561320" cy="12700"/>
          </a:xfrm>
          <a:prstGeom prst="rect">
            <a:avLst/>
          </a:prstGeom>
          <a:solidFill>
            <a:srgbClr val="DEDA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rlito"/>
              </a:rPr>
              <a:t>Basil Stevenson  ·  Lumenor  ·  Internship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6437376"/>
            <a:ext cx="2276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rlito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112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66928"/>
            <a:ext cx="10561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40">
                <a:solidFill>
                  <a:srgbClr val="B11226"/>
                </a:solidFill>
                <a:latin typeface="Carlito"/>
              </a:rPr>
              <a:t>SECTIONS 10 TO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68680"/>
            <a:ext cx="10561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Carlito"/>
              </a:rPr>
              <a:t>Outcomes, plan, and 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627632"/>
            <a:ext cx="10561320" cy="17780"/>
          </a:xfrm>
          <a:prstGeom prst="rect">
            <a:avLst/>
          </a:prstGeom>
          <a:solidFill>
            <a:srgbClr val="DEDA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11226"/>
                </a:solidFill>
                <a:latin typeface="Carlito"/>
              </a:rPr>
              <a:t>Work plan (second half)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50749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B11226"/>
                </a:solidFill>
                <a:latin typeface="Carlito"/>
              </a:rPr>
              <a:t>•  </a:t>
            </a:r>
            <a:r>
              <a:rPr sz="1400" b="1" i="0">
                <a:solidFill>
                  <a:srgbClr val="1A1A1A"/>
                </a:solidFill>
                <a:latin typeface="Carlito"/>
              </a:rPr>
              <a:t>IFN:  </a:t>
            </a:r>
            <a:r>
              <a:rPr sz="1400" b="0" i="0">
                <a:solidFill>
                  <a:srgbClr val="1A1A1A"/>
                </a:solidFill>
                <a:latin typeface="Carlito"/>
              </a:rPr>
              <a:t>finish the pipeline end-to-end testing; moderation and reporting.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B11226"/>
                </a:solidFill>
                <a:latin typeface="Carlito"/>
              </a:rPr>
              <a:t>•  </a:t>
            </a:r>
            <a:r>
              <a:rPr sz="1400" b="1" i="0">
                <a:solidFill>
                  <a:srgbClr val="1A1A1A"/>
                </a:solidFill>
                <a:latin typeface="Carlito"/>
              </a:rPr>
              <a:t>IFN:  </a:t>
            </a:r>
            <a:r>
              <a:rPr sz="1400" b="0" i="0">
                <a:solidFill>
                  <a:srgbClr val="1A1A1A"/>
                </a:solidFill>
                <a:latin typeface="Carlito"/>
              </a:rPr>
              <a:t>self-host migration off Supabase Cloud and Vercel onto the office server; captcha rollout.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B11226"/>
                </a:solidFill>
                <a:latin typeface="Carlito"/>
              </a:rPr>
              <a:t>•  </a:t>
            </a:r>
            <a:r>
              <a:rPr sz="1400" b="1" i="0">
                <a:solidFill>
                  <a:srgbClr val="1A1A1A"/>
                </a:solidFill>
                <a:latin typeface="Carlito"/>
              </a:rPr>
              <a:t>FlowX:  </a:t>
            </a:r>
            <a:r>
              <a:rPr sz="1400" b="0" i="0">
                <a:solidFill>
                  <a:srgbClr val="1A1A1A"/>
                </a:solidFill>
                <a:latin typeface="Carlito"/>
              </a:rPr>
              <a:t>retest the fixed bugs and widen coverage.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6596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11226"/>
                </a:solidFill>
                <a:latin typeface="Carlito"/>
              </a:rPr>
              <a:t>Learning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331720"/>
            <a:ext cx="50749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B11226"/>
                </a:solidFill>
                <a:latin typeface="Carlito"/>
              </a:rPr>
              <a:t>•  </a:t>
            </a:r>
            <a:r>
              <a:rPr sz="1400" b="0" i="0">
                <a:solidFill>
                  <a:srgbClr val="1A1A1A"/>
                </a:solidFill>
                <a:latin typeface="Carlito"/>
              </a:rPr>
              <a:t>Reproducible bug reporting, priority triage, and security testing of auth and error handling.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B11226"/>
                </a:solidFill>
                <a:latin typeface="Carlito"/>
              </a:rPr>
              <a:t>•  </a:t>
            </a:r>
            <a:r>
              <a:rPr sz="1400" b="0" i="0">
                <a:solidFill>
                  <a:srgbClr val="1A1A1A"/>
                </a:solidFill>
                <a:latin typeface="Carlito"/>
              </a:rPr>
              <a:t>Full-stack delivery: auth, RLS and data modeling, a SPA, shipped to production.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B11226"/>
                </a:solidFill>
                <a:latin typeface="Carlito"/>
              </a:rPr>
              <a:t>•  </a:t>
            </a:r>
            <a:r>
              <a:rPr sz="1400" b="0" i="0">
                <a:solidFill>
                  <a:srgbClr val="1A1A1A"/>
                </a:solidFill>
                <a:latin typeface="Carlito"/>
              </a:rPr>
              <a:t>Working and dogfooding inside a real SaaS team.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B11226"/>
                </a:solidFill>
                <a:latin typeface="Carlito"/>
              </a:rPr>
              <a:t>•  </a:t>
            </a:r>
            <a:r>
              <a:rPr sz="1400" b="0" i="0">
                <a:solidFill>
                  <a:srgbClr val="1A1A1A"/>
                </a:solidFill>
                <a:latin typeface="Carlito"/>
              </a:rPr>
              <a:t>Building depth in Docker, Git, agentic AI, LLMs, and vector databases.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5440680"/>
            <a:ext cx="82296" cy="457200"/>
          </a:xfrm>
          <a:prstGeom prst="rect">
            <a:avLst/>
          </a:prstGeom>
          <a:solidFill>
            <a:srgbClr val="B112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458968"/>
            <a:ext cx="10561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Carlito"/>
              </a:rPr>
              <a:t>Conclusion: halfway in, bugs found, products shipped, more to build.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6364224"/>
            <a:ext cx="10561320" cy="12700"/>
          </a:xfrm>
          <a:prstGeom prst="rect">
            <a:avLst/>
          </a:prstGeom>
          <a:solidFill>
            <a:srgbClr val="DEDA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rlito"/>
              </a:rPr>
              <a:t>Basil Stevenson  ·  Lumenor  ·  Internship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6437376"/>
            <a:ext cx="2276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rlito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