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26686F-7959-4859-9568-EE74C5587C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940C6F-A44B-4F90-9C05-A2CBE0DD4A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187AF0-EEDC-46C6-88CD-1A7404C7CD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91A5F5-D0AF-46B1-85F6-0535EB2765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0ED6F0-0642-42D0-BBFA-0951338ED1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BFA6E0-8255-4B3C-BD2F-D1452FCE16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0B6EB5-D4D1-45B9-A96B-A758832D95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FC34A4-A1FF-4D43-80AC-BCD2798A2C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F5737B-6ACC-40A4-8B6F-623FF96C11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00AF9C-2C73-403A-8109-45AE0B4232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10EDF3-4E3E-417A-8C6C-7D7C915EF5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868680" y="1234440"/>
            <a:ext cx="1056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pc="201" strike="noStrike">
                <a:solidFill>
                  <a:srgbClr val="B11226"/>
                </a:solidFill>
                <a:effectLst/>
                <a:uFillTx/>
                <a:latin typeface="Calibri"/>
              </a:rPr>
              <a:t>SOFTWARE ENGINEERING INTERNSHIP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68680" y="1691640"/>
            <a:ext cx="10560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5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Mid-Internship Review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868680" y="2743200"/>
            <a:ext cx="10560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Lumenor   ·   May to July 2026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868680" y="3429000"/>
            <a:ext cx="1828440" cy="2772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920" rIns="90000" bIns="-1692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868680" y="3657600"/>
            <a:ext cx="9875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Three work-streams: QA on FlowX, a product landing page, and the IFN platform.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868680" y="5074920"/>
            <a:ext cx="10560960" cy="1476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868680" y="52578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Basil Stevenson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868680" y="56509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ICFAI  ·  BCA (IP2)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Company tutor: Rama Raju sir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68680" y="567000"/>
            <a:ext cx="10560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pc="139" strike="noStrike">
                <a:solidFill>
                  <a:srgbClr val="B11226"/>
                </a:solidFill>
                <a:effectLst/>
                <a:uFillTx/>
                <a:latin typeface="Calibri"/>
              </a:rPr>
              <a:t>CONTEXT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868680" y="868680"/>
            <a:ext cx="10560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The company and my work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5"/>
          <p:cNvSpPr/>
          <p:nvPr/>
        </p:nvSpPr>
        <p:spPr>
          <a:xfrm>
            <a:off x="868680" y="1627560"/>
            <a:ext cx="10560960" cy="1728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868680" y="1874520"/>
            <a:ext cx="10560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Lumenor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builds software for solar-energy businesses: a customer suite (</a:t>
            </a: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solarX, flowX, fixX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), plus </a:t>
            </a: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coreX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for internal teams. My first half centered on </a:t>
            </a: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FlowX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: Inventory, Sales and CRM, HRMS, Accounting, Procurement.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7"/>
          <p:cNvSpPr/>
          <p:nvPr/>
        </p:nvSpPr>
        <p:spPr>
          <a:xfrm>
            <a:off x="868680" y="2788920"/>
            <a:ext cx="3309840" cy="228564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8"/>
          <p:cNvSpPr/>
          <p:nvPr/>
        </p:nvSpPr>
        <p:spPr>
          <a:xfrm>
            <a:off x="868680" y="2788920"/>
            <a:ext cx="3309840" cy="9108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1143000" y="3081600"/>
            <a:ext cx="276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01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1143000" y="3465720"/>
            <a:ext cx="276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QA on FlowX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1143000" y="4014360"/>
            <a:ext cx="276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Flow-tested FlowX: 67 tests, 19 bugs logged, including 2 security criticals.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2"/>
          <p:cNvSpPr/>
          <p:nvPr/>
        </p:nvSpPr>
        <p:spPr>
          <a:xfrm>
            <a:off x="4453200" y="2788920"/>
            <a:ext cx="3309840" cy="228564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13"/>
          <p:cNvSpPr/>
          <p:nvPr/>
        </p:nvSpPr>
        <p:spPr>
          <a:xfrm>
            <a:off x="4453200" y="2788920"/>
            <a:ext cx="3309840" cy="9108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4727520" y="3081600"/>
            <a:ext cx="276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4727520" y="3465720"/>
            <a:ext cx="276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Lumenor landing page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6"/>
          <p:cNvSpPr/>
          <p:nvPr/>
        </p:nvSpPr>
        <p:spPr>
          <a:xfrm>
            <a:off x="4727520" y="4014360"/>
            <a:ext cx="276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Built and shipped the public product marketing site.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7"/>
          <p:cNvSpPr/>
          <p:nvPr/>
        </p:nvSpPr>
        <p:spPr>
          <a:xfrm>
            <a:off x="8037720" y="2788920"/>
            <a:ext cx="3309840" cy="228564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8"/>
          <p:cNvSpPr/>
          <p:nvPr/>
        </p:nvSpPr>
        <p:spPr>
          <a:xfrm>
            <a:off x="8037720" y="2788920"/>
            <a:ext cx="3309840" cy="9108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8312040" y="3081600"/>
            <a:ext cx="276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03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8312040" y="3465720"/>
            <a:ext cx="2761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IFN 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1"/>
          <p:cNvSpPr/>
          <p:nvPr/>
        </p:nvSpPr>
        <p:spPr>
          <a:xfrm>
            <a:off x="8312040" y="4014360"/>
            <a:ext cx="276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Built ICFAI Founders Network, a members-only founder platform.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2"/>
          <p:cNvSpPr/>
          <p:nvPr/>
        </p:nvSpPr>
        <p:spPr>
          <a:xfrm>
            <a:off x="868680" y="5440680"/>
            <a:ext cx="82080" cy="4568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3"/>
          <p:cNvSpPr/>
          <p:nvPr/>
        </p:nvSpPr>
        <p:spPr>
          <a:xfrm>
            <a:off x="1097280" y="5459040"/>
            <a:ext cx="10560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Closing the loop: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IFN is built for my own university's founder community.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24"/>
          <p:cNvSpPr/>
          <p:nvPr/>
        </p:nvSpPr>
        <p:spPr>
          <a:xfrm>
            <a:off x="868680" y="6364080"/>
            <a:ext cx="10560960" cy="1224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5"/>
          <p:cNvSpPr/>
          <p:nvPr/>
        </p:nvSpPr>
        <p:spPr>
          <a:xfrm>
            <a:off x="868680" y="6437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Basil Stevenson  ·  Lumenor  ·  Mid-Internship Review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6"/>
          <p:cNvSpPr/>
          <p:nvPr/>
        </p:nvSpPr>
        <p:spPr>
          <a:xfrm>
            <a:off x="9052560" y="643752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02 /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868680" y="567000"/>
            <a:ext cx="10560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pc="139" strike="noStrike">
                <a:solidFill>
                  <a:srgbClr val="B11226"/>
                </a:solidFill>
                <a:effectLst/>
                <a:uFillTx/>
                <a:latin typeface="Calibri"/>
              </a:rPr>
              <a:t>WORK-STREAM 1  ·  QUALITY ASSURANCE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868680" y="868680"/>
            <a:ext cx="10560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Testing FlowX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5"/>
          <p:cNvSpPr/>
          <p:nvPr/>
        </p:nvSpPr>
        <p:spPr>
          <a:xfrm>
            <a:off x="868680" y="1627560"/>
            <a:ext cx="10560960" cy="1728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6"/>
          <p:cNvSpPr/>
          <p:nvPr/>
        </p:nvSpPr>
        <p:spPr>
          <a:xfrm>
            <a:off x="868680" y="1938600"/>
            <a:ext cx="2505240" cy="11426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868680" y="1938600"/>
            <a:ext cx="82080" cy="1142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1124640" y="208476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67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1143000" y="256932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tests run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0"/>
          <p:cNvSpPr/>
          <p:nvPr/>
        </p:nvSpPr>
        <p:spPr>
          <a:xfrm>
            <a:off x="3538800" y="1938600"/>
            <a:ext cx="2505240" cy="11426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1"/>
          <p:cNvSpPr/>
          <p:nvPr/>
        </p:nvSpPr>
        <p:spPr>
          <a:xfrm>
            <a:off x="3538800" y="1938600"/>
            <a:ext cx="82080" cy="1142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3794760" y="208476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19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3813120" y="256932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bugs found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14"/>
          <p:cNvSpPr/>
          <p:nvPr/>
        </p:nvSpPr>
        <p:spPr>
          <a:xfrm>
            <a:off x="6208920" y="1938600"/>
            <a:ext cx="2505240" cy="11426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5"/>
          <p:cNvSpPr/>
          <p:nvPr/>
        </p:nvSpPr>
        <p:spPr>
          <a:xfrm>
            <a:off x="6208920" y="1938600"/>
            <a:ext cx="82080" cy="1142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6"/>
          <p:cNvSpPr/>
          <p:nvPr/>
        </p:nvSpPr>
        <p:spPr>
          <a:xfrm>
            <a:off x="6464880" y="208476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7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7"/>
          <p:cNvSpPr/>
          <p:nvPr/>
        </p:nvSpPr>
        <p:spPr>
          <a:xfrm>
            <a:off x="6483240" y="256932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modules covered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8"/>
          <p:cNvSpPr/>
          <p:nvPr/>
        </p:nvSpPr>
        <p:spPr>
          <a:xfrm>
            <a:off x="8878680" y="1938600"/>
            <a:ext cx="2505240" cy="11426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19"/>
          <p:cNvSpPr/>
          <p:nvPr/>
        </p:nvSpPr>
        <p:spPr>
          <a:xfrm>
            <a:off x="8878680" y="1938600"/>
            <a:ext cx="82080" cy="1142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0"/>
          <p:cNvSpPr/>
          <p:nvPr/>
        </p:nvSpPr>
        <p:spPr>
          <a:xfrm>
            <a:off x="9135000" y="208476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9153000" y="256932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security criticals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868680" y="3200400"/>
            <a:ext cx="10560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Brief: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test FlowX like a user, optimize the happy paths, flag flaws. Assigned to FixX first; moved to FlowX when FixX was not ready. I also offered security testing, from a penetration-testing background.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3"/>
          <p:cNvSpPr/>
          <p:nvPr/>
        </p:nvSpPr>
        <p:spPr>
          <a:xfrm>
            <a:off x="868680" y="395028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Selected findings (mine)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4"/>
          <p:cNvSpPr/>
          <p:nvPr/>
        </p:nvSpPr>
        <p:spPr>
          <a:xfrm>
            <a:off x="868680" y="4297680"/>
            <a:ext cx="5988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4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Account takeover: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password-reset poisoning via a client-controlled baseUrl leaks the reset token to an attacker domain (Critical).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Info disclosure: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duplicate warehouse code surfaces the raw ORM error, leaking internal file paths and schema.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Data integrity and crashes: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address corrupted on every save, a broken CSV round-trip, a search that crashes on an undefined field.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25" descr="bug-tracker.png"/>
          <p:cNvPicPr/>
          <p:nvPr/>
        </p:nvPicPr>
        <p:blipFill>
          <a:blip r:embed="rId1"/>
          <a:stretch/>
        </p:blipFill>
        <p:spPr>
          <a:xfrm>
            <a:off x="7178040" y="3950280"/>
            <a:ext cx="4160160" cy="1846800"/>
          </a:xfrm>
          <a:prstGeom prst="rect">
            <a:avLst/>
          </a:prstGeom>
          <a:noFill/>
          <a:ln w="12700">
            <a:solidFill>
              <a:srgbClr val="DEDAD2"/>
            </a:solidFill>
            <a:round/>
          </a:ln>
        </p:spPr>
      </p:pic>
      <p:sp>
        <p:nvSpPr>
          <p:cNvPr id="122" name="TextBox 26"/>
          <p:cNvSpPr/>
          <p:nvPr/>
        </p:nvSpPr>
        <p:spPr>
          <a:xfrm>
            <a:off x="868680" y="5943600"/>
            <a:ext cx="1056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Tooling:  </a:t>
            </a: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Playwright automated flows (shared HTML reports); each bug logged with module, repro steps, expected versus actual, priority, status.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7"/>
          <p:cNvSpPr/>
          <p:nvPr/>
        </p:nvSpPr>
        <p:spPr>
          <a:xfrm>
            <a:off x="868680" y="6364080"/>
            <a:ext cx="10560960" cy="1224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868680" y="6437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Basil Stevenson  ·  Lumenor  ·  Mid-Internship Review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9052560" y="643752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03 /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868680" y="567000"/>
            <a:ext cx="10560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pc="139" strike="noStrike">
                <a:solidFill>
                  <a:srgbClr val="B11226"/>
                </a:solidFill>
                <a:effectLst/>
                <a:uFillTx/>
                <a:latin typeface="Calibri"/>
              </a:rPr>
              <a:t>WORK-STREAM 2  ·  FRONTEND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868680" y="868680"/>
            <a:ext cx="10560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Lumenor landing page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868680" y="1627560"/>
            <a:ext cx="10560960" cy="1728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868680" y="201168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4000"/>
              </a:lnSpc>
              <a:spcAft>
                <a:spcPts val="1400"/>
              </a:spcAft>
            </a:pPr>
            <a:r>
              <a:rPr lang="en-US" sz="15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Built and shipped the public marketing site for Lumenor.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1400"/>
              </a:spcAft>
            </a:pPr>
            <a:r>
              <a:rPr lang="en-US" sz="15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Headline: “Run your entire solar business in one place.”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1400"/>
              </a:spcAft>
            </a:pPr>
            <a:r>
              <a:rPr lang="en-US" sz="15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Responsive layout that presents the product to prospects.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868680" y="41605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Live:  </a:t>
            </a: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basiltest.github.io/lumenor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8" descr="landing.png"/>
          <p:cNvPicPr/>
          <p:nvPr/>
        </p:nvPicPr>
        <p:blipFill>
          <a:blip r:embed="rId1"/>
          <a:stretch/>
        </p:blipFill>
        <p:spPr>
          <a:xfrm>
            <a:off x="6126480" y="2011680"/>
            <a:ext cx="5211720" cy="3611520"/>
          </a:xfrm>
          <a:prstGeom prst="rect">
            <a:avLst/>
          </a:prstGeom>
          <a:noFill/>
          <a:ln w="12700">
            <a:solidFill>
              <a:srgbClr val="DEDAD2"/>
            </a:solidFill>
            <a:round/>
          </a:ln>
        </p:spPr>
      </p:pic>
      <p:sp>
        <p:nvSpPr>
          <p:cNvPr id="134" name="Rectangle 9"/>
          <p:cNvSpPr/>
          <p:nvPr/>
        </p:nvSpPr>
        <p:spPr>
          <a:xfrm>
            <a:off x="868680" y="6364080"/>
            <a:ext cx="10560960" cy="1224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868680" y="6437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Basil Stevenson  ·  Lumenor  ·  Mid-Internship Review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9052560" y="643752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04 /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868680" y="567000"/>
            <a:ext cx="10560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pc="139" strike="noStrike">
                <a:solidFill>
                  <a:srgbClr val="B11226"/>
                </a:solidFill>
                <a:effectLst/>
                <a:uFillTx/>
                <a:latin typeface="Calibri"/>
              </a:rPr>
              <a:t>WORK-STREAM 3  ·  FLAGSHIP BUILD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868680" y="868680"/>
            <a:ext cx="10560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IFN: ICFAI Founders Network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5"/>
          <p:cNvSpPr/>
          <p:nvPr/>
        </p:nvSpPr>
        <p:spPr>
          <a:xfrm>
            <a:off x="868680" y="1627560"/>
            <a:ext cx="10560960" cy="1728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868680" y="1828800"/>
            <a:ext cx="10560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members-only platform for the university's founder community.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7"/>
          <p:cNvSpPr/>
          <p:nvPr/>
        </p:nvSpPr>
        <p:spPr>
          <a:xfrm>
            <a:off x="868680" y="2286000"/>
            <a:ext cx="72036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868680" y="2363760"/>
            <a:ext cx="72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Feed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9"/>
          <p:cNvSpPr/>
          <p:nvPr/>
        </p:nvSpPr>
        <p:spPr>
          <a:xfrm>
            <a:off x="1764720" y="2286000"/>
            <a:ext cx="198216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1764720" y="2363760"/>
            <a:ext cx="1982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Idea Pipeline G1-G6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11"/>
          <p:cNvSpPr/>
          <p:nvPr/>
        </p:nvSpPr>
        <p:spPr>
          <a:xfrm>
            <a:off x="3963960" y="2286000"/>
            <a:ext cx="130896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3963960" y="2363760"/>
            <a:ext cx="1308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Problem Hub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3"/>
          <p:cNvSpPr/>
          <p:nvPr/>
        </p:nvSpPr>
        <p:spPr>
          <a:xfrm>
            <a:off x="5468040" y="2286000"/>
            <a:ext cx="172980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4"/>
          <p:cNvSpPr/>
          <p:nvPr/>
        </p:nvSpPr>
        <p:spPr>
          <a:xfrm>
            <a:off x="5468040" y="2363760"/>
            <a:ext cx="172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Team Acquisition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5"/>
          <p:cNvSpPr/>
          <p:nvPr/>
        </p:nvSpPr>
        <p:spPr>
          <a:xfrm>
            <a:off x="7406640" y="2286000"/>
            <a:ext cx="105660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6"/>
          <p:cNvSpPr/>
          <p:nvPr/>
        </p:nvSpPr>
        <p:spPr>
          <a:xfrm>
            <a:off x="7406640" y="2363760"/>
            <a:ext cx="1056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Calendar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7"/>
          <p:cNvSpPr/>
          <p:nvPr/>
        </p:nvSpPr>
        <p:spPr>
          <a:xfrm>
            <a:off x="8650080" y="2286000"/>
            <a:ext cx="114084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8650080" y="2363760"/>
            <a:ext cx="114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Directory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9"/>
          <p:cNvSpPr/>
          <p:nvPr/>
        </p:nvSpPr>
        <p:spPr>
          <a:xfrm>
            <a:off x="868680" y="2834640"/>
            <a:ext cx="147744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0"/>
          <p:cNvSpPr/>
          <p:nvPr/>
        </p:nvSpPr>
        <p:spPr>
          <a:xfrm>
            <a:off x="868680" y="2912400"/>
            <a:ext cx="147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Notifications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21"/>
          <p:cNvSpPr/>
          <p:nvPr/>
        </p:nvSpPr>
        <p:spPr>
          <a:xfrm>
            <a:off x="2546640" y="2834640"/>
            <a:ext cx="122508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2"/>
          <p:cNvSpPr/>
          <p:nvPr/>
        </p:nvSpPr>
        <p:spPr>
          <a:xfrm>
            <a:off x="2546640" y="2912400"/>
            <a:ext cx="122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Moderation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23"/>
          <p:cNvSpPr/>
          <p:nvPr/>
        </p:nvSpPr>
        <p:spPr>
          <a:xfrm>
            <a:off x="3963960" y="2834640"/>
            <a:ext cx="80424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4"/>
          <p:cNvSpPr/>
          <p:nvPr/>
        </p:nvSpPr>
        <p:spPr>
          <a:xfrm>
            <a:off x="3963960" y="2912400"/>
            <a:ext cx="80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Admin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25"/>
          <p:cNvSpPr/>
          <p:nvPr/>
        </p:nvSpPr>
        <p:spPr>
          <a:xfrm>
            <a:off x="4946760" y="2834640"/>
            <a:ext cx="1561320" cy="42012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6"/>
          <p:cNvSpPr/>
          <p:nvPr/>
        </p:nvSpPr>
        <p:spPr>
          <a:xfrm>
            <a:off x="4946760" y="2912400"/>
            <a:ext cx="156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Auth and Roles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27"/>
          <p:cNvSpPr/>
          <p:nvPr/>
        </p:nvSpPr>
        <p:spPr>
          <a:xfrm>
            <a:off x="868680" y="3310200"/>
            <a:ext cx="10560960" cy="77688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28"/>
          <p:cNvSpPr/>
          <p:nvPr/>
        </p:nvSpPr>
        <p:spPr>
          <a:xfrm>
            <a:off x="868680" y="3310200"/>
            <a:ext cx="82080" cy="77688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9"/>
          <p:cNvSpPr/>
          <p:nvPr/>
        </p:nvSpPr>
        <p:spPr>
          <a:xfrm>
            <a:off x="1143000" y="3420000"/>
            <a:ext cx="10012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Stack: 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Vite single-page app on Vercel, backed by Supabase (Auth + Postgres + Row-Level Security), no custom backend. Now hardening for production and moving to self-hosted infrastructure.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Picture 30" descr="ifn-feed.png"/>
          <p:cNvPicPr/>
          <p:nvPr/>
        </p:nvPicPr>
        <p:blipFill>
          <a:blip r:embed="rId1"/>
          <a:stretch/>
        </p:blipFill>
        <p:spPr>
          <a:xfrm>
            <a:off x="868680" y="4279320"/>
            <a:ext cx="5138640" cy="1974600"/>
          </a:xfrm>
          <a:prstGeom prst="rect">
            <a:avLst/>
          </a:prstGeom>
          <a:noFill/>
          <a:ln w="12700">
            <a:solidFill>
              <a:srgbClr val="DEDAD2"/>
            </a:solidFill>
            <a:round/>
          </a:ln>
        </p:spPr>
      </p:pic>
      <p:pic>
        <p:nvPicPr>
          <p:cNvPr id="167" name="Picture 31" descr="ifn-pipeline.png"/>
          <p:cNvPicPr/>
          <p:nvPr/>
        </p:nvPicPr>
        <p:blipFill>
          <a:blip r:embed="rId2"/>
          <a:stretch/>
        </p:blipFill>
        <p:spPr>
          <a:xfrm>
            <a:off x="6245280" y="4279320"/>
            <a:ext cx="5138640" cy="1974600"/>
          </a:xfrm>
          <a:prstGeom prst="rect">
            <a:avLst/>
          </a:prstGeom>
          <a:noFill/>
          <a:ln w="12700">
            <a:solidFill>
              <a:srgbClr val="DEDAD2"/>
            </a:solidFill>
            <a:round/>
          </a:ln>
        </p:spPr>
      </p:pic>
      <p:sp>
        <p:nvSpPr>
          <p:cNvPr id="168" name="Rectangle 32"/>
          <p:cNvSpPr/>
          <p:nvPr/>
        </p:nvSpPr>
        <p:spPr>
          <a:xfrm>
            <a:off x="868680" y="6364080"/>
            <a:ext cx="10560960" cy="1224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33"/>
          <p:cNvSpPr/>
          <p:nvPr/>
        </p:nvSpPr>
        <p:spPr>
          <a:xfrm>
            <a:off x="868680" y="6437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Basil Stevenson  ·  Lumenor  ·  Mid-Internship Review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4"/>
          <p:cNvSpPr/>
          <p:nvPr/>
        </p:nvSpPr>
        <p:spPr>
          <a:xfrm>
            <a:off x="9052560" y="643752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05 /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868680" y="567000"/>
            <a:ext cx="10560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pc="139" strike="noStrike">
                <a:solidFill>
                  <a:srgbClr val="B11226"/>
                </a:solidFill>
                <a:effectLst/>
                <a:uFillTx/>
                <a:latin typeface="Calibri"/>
              </a:rPr>
              <a:t>OUTLOOK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868680" y="868680"/>
            <a:ext cx="10560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What's next and what I learned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5"/>
          <p:cNvSpPr/>
          <p:nvPr/>
        </p:nvSpPr>
        <p:spPr>
          <a:xfrm>
            <a:off x="868680" y="1627560"/>
            <a:ext cx="10560960" cy="1728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868680" y="1965960"/>
            <a:ext cx="507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Second half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868680" y="2331720"/>
            <a:ext cx="50745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4000"/>
              </a:lnSpc>
              <a:spcAft>
                <a:spcPts val="1199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IFN: 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finish the pipeline end-to-end testing; moderation and reporting.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1199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IFN: 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self-host migration off Supabase Cloud and Vercel onto the office server; captcha rollout.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1199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FlowX: 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retest the fixed bugs and widen coverage.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6355080" y="1965960"/>
            <a:ext cx="507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What I learned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6355080" y="2331720"/>
            <a:ext cx="5074560" cy="17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4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Reproducible bug reporting, priority triage, and security testing of auth and error handling.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Full-stack delivery: auth, RLS and data modeling, a SPA, shipped to production.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Working inside a real SaaS team.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B11226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Building depth in Docker, Git &amp; agentic AI.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0"/>
          <p:cNvSpPr/>
          <p:nvPr/>
        </p:nvSpPr>
        <p:spPr>
          <a:xfrm>
            <a:off x="868680" y="5440680"/>
            <a:ext cx="82080" cy="456840"/>
          </a:xfrm>
          <a:prstGeom prst="rect">
            <a:avLst/>
          </a:prstGeom>
          <a:solidFill>
            <a:srgbClr val="B11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1097280" y="5459040"/>
            <a:ext cx="10560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Halfway in: bugs found, products shipped, more to build.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12"/>
          <p:cNvSpPr/>
          <p:nvPr/>
        </p:nvSpPr>
        <p:spPr>
          <a:xfrm>
            <a:off x="868680" y="6364080"/>
            <a:ext cx="10560960" cy="12240"/>
          </a:xfrm>
          <a:prstGeom prst="rect">
            <a:avLst/>
          </a:prstGeom>
          <a:solidFill>
            <a:srgbClr val="DEDA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3"/>
          <p:cNvSpPr/>
          <p:nvPr/>
        </p:nvSpPr>
        <p:spPr>
          <a:xfrm>
            <a:off x="868680" y="6437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Basil Stevenson  ·  Lumenor  ·  Mid-Internship Review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9052560" y="643752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06 /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2026-06-22T02:14:29Z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